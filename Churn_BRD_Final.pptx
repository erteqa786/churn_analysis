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2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0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0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3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8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7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5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5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7743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26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7503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66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17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4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2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Customer Churn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-528998" y="2589953"/>
            <a:ext cx="967299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Business Requirements Documents (BRD)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ctr">
              <a:buNone/>
            </a:pPr>
            <a:r>
              <a:rPr lang="en-US" dirty="0"/>
              <a:t> The telecom company is experiencing a high rate of customer churn, which is negatively impacting revenue and increasing customer acquisition costs. </a:t>
            </a:r>
          </a:p>
          <a:p>
            <a:pPr marL="0" indent="0" algn="ctr">
              <a:buNone/>
            </a:pPr>
            <a:r>
              <a:rPr lang="en-US" dirty="0"/>
              <a:t>This project aims to: </a:t>
            </a:r>
          </a:p>
          <a:p>
            <a:pPr marL="0" indent="0">
              <a:buNone/>
            </a:pPr>
            <a:r>
              <a:rPr lang="en-US" dirty="0"/>
              <a:t>-&gt; Analyze historical customer data </a:t>
            </a:r>
          </a:p>
          <a:p>
            <a:pPr marL="0" indent="0">
              <a:buNone/>
            </a:pPr>
            <a:r>
              <a:rPr lang="en-US" dirty="0"/>
              <a:t>-&gt; Identify key drivers of churn </a:t>
            </a:r>
          </a:p>
          <a:p>
            <a:pPr marL="0" indent="0">
              <a:buNone/>
            </a:pPr>
            <a:r>
              <a:rPr lang="en-US" dirty="0"/>
              <a:t>-&gt;Provide actionable insights </a:t>
            </a:r>
          </a:p>
          <a:p>
            <a:pPr marL="0" indent="0">
              <a:buNone/>
            </a:pPr>
            <a:r>
              <a:rPr lang="en-US" dirty="0"/>
              <a:t>-&gt; Support data-driven decision making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lang="en-US" b="1" dirty="0"/>
              <a:t>Primary Objectives:</a:t>
            </a:r>
          </a:p>
          <a:p>
            <a:r>
              <a:rPr lang="en-US" dirty="0"/>
              <a:t>Reduce customer churn rate </a:t>
            </a:r>
          </a:p>
          <a:p>
            <a:r>
              <a:rPr lang="en-US" dirty="0"/>
              <a:t>Improve customer retention strategies </a:t>
            </a:r>
          </a:p>
          <a:p>
            <a:r>
              <a:rPr lang="en-US" dirty="0"/>
              <a:t>Increase customer lifetime value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Secondary </a:t>
            </a:r>
            <a:r>
              <a:rPr lang="en-US" b="1" dirty="0"/>
              <a:t>Objectives:</a:t>
            </a:r>
          </a:p>
          <a:p>
            <a:r>
              <a:rPr lang="en-US" dirty="0"/>
              <a:t>Identify high-risk customer segments </a:t>
            </a:r>
          </a:p>
          <a:p>
            <a:r>
              <a:rPr lang="en-US" dirty="0"/>
              <a:t>Improve service offerings </a:t>
            </a:r>
          </a:p>
          <a:p>
            <a:r>
              <a:rPr lang="en-US" dirty="0"/>
              <a:t>Optimize pricing and contract models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lang="en-US" dirty="0"/>
              <a:t>The company lacks visibility into:</a:t>
            </a:r>
          </a:p>
          <a:p>
            <a:r>
              <a:rPr lang="en-US" dirty="0"/>
              <a:t>Why customers are leaving </a:t>
            </a:r>
          </a:p>
          <a:p>
            <a:r>
              <a:rPr lang="en-US" dirty="0"/>
              <a:t>Which customers are likely to churn </a:t>
            </a:r>
          </a:p>
          <a:p>
            <a:r>
              <a:rPr lang="en-US" dirty="0"/>
              <a:t>What actions can prevent churn </a:t>
            </a:r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leads to:</a:t>
            </a:r>
          </a:p>
          <a:p>
            <a:r>
              <a:rPr lang="en-US" dirty="0"/>
              <a:t>Revenue loss </a:t>
            </a:r>
          </a:p>
          <a:p>
            <a:r>
              <a:rPr lang="en-US" dirty="0"/>
              <a:t>Inefficient marketing spend </a:t>
            </a:r>
          </a:p>
          <a:p>
            <a:r>
              <a:rPr lang="en-US" dirty="0"/>
              <a:t>Poor customer experience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lang="en-US" b="1" dirty="0"/>
              <a:t>✔ In Scope:</a:t>
            </a:r>
          </a:p>
          <a:p>
            <a:r>
              <a:rPr lang="en-US" dirty="0"/>
              <a:t>Data analysis of customer dataset (1000 records) </a:t>
            </a:r>
          </a:p>
          <a:p>
            <a:r>
              <a:rPr lang="en-US" dirty="0"/>
              <a:t>Churn behavior analysis </a:t>
            </a:r>
          </a:p>
          <a:p>
            <a:r>
              <a:rPr lang="en-US" dirty="0"/>
              <a:t>Feature impact analysis </a:t>
            </a:r>
          </a:p>
          <a:p>
            <a:r>
              <a:rPr lang="en-US" dirty="0"/>
              <a:t>Dashboard creation (Power BI) </a:t>
            </a:r>
          </a:p>
          <a:p>
            <a:r>
              <a:rPr lang="en-US" dirty="0"/>
              <a:t>Predictive modeling (Python) </a:t>
            </a:r>
          </a:p>
          <a:p>
            <a:pPr marL="0" indent="0">
              <a:buNone/>
            </a:pPr>
            <a:r>
              <a:rPr lang="en-US" b="1" dirty="0"/>
              <a:t>❌ Out of Scope:</a:t>
            </a:r>
          </a:p>
          <a:p>
            <a:r>
              <a:rPr lang="en-US" dirty="0"/>
              <a:t>Real-time data streaming </a:t>
            </a:r>
          </a:p>
          <a:p>
            <a:r>
              <a:rPr lang="en-US" dirty="0"/>
              <a:t>Deployment to production systems </a:t>
            </a:r>
          </a:p>
          <a:p>
            <a:r>
              <a:rPr lang="en-US" dirty="0"/>
              <a:t>Customer outreach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Description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292605"/>
              </p:ext>
            </p:extLst>
          </p:nvPr>
        </p:nvGraphicFramePr>
        <p:xfrm>
          <a:off x="917030" y="2160588"/>
          <a:ext cx="5733552" cy="3881436"/>
        </p:xfrm>
        <a:graphic>
          <a:graphicData uri="http://schemas.openxmlformats.org/drawingml/2006/table">
            <a:tbl>
              <a:tblPr/>
              <a:tblGrid>
                <a:gridCol w="2866776">
                  <a:extLst>
                    <a:ext uri="{9D8B030D-6E8A-4147-A177-3AD203B41FA5}">
                      <a16:colId xmlns:a16="http://schemas.microsoft.com/office/drawing/2014/main" val="3595557718"/>
                    </a:ext>
                  </a:extLst>
                </a:gridCol>
                <a:gridCol w="2866776">
                  <a:extLst>
                    <a:ext uri="{9D8B030D-6E8A-4147-A177-3AD203B41FA5}">
                      <a16:colId xmlns:a16="http://schemas.microsoft.com/office/drawing/2014/main" val="1281152294"/>
                    </a:ext>
                  </a:extLst>
                </a:gridCol>
              </a:tblGrid>
              <a:tr h="330335">
                <a:tc>
                  <a:txBody>
                    <a:bodyPr/>
                    <a:lstStyle/>
                    <a:p>
                      <a:r>
                        <a:rPr lang="en-IN" sz="1600" b="1" dirty="0"/>
                        <a:t>Category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Fields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786976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r>
                        <a:rPr lang="en-IN" sz="1600"/>
                        <a:t>Demographics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Age, Gender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4953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r>
                        <a:rPr lang="en-IN" sz="1600"/>
                        <a:t>Account Info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Tenure, Contract_Type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599577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r>
                        <a:rPr lang="en-IN" sz="1600"/>
                        <a:t>Financial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Monthly_Charges, Total_Charges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547474"/>
                  </a:ext>
                </a:extLst>
              </a:tr>
              <a:tr h="825838">
                <a:tc>
                  <a:txBody>
                    <a:bodyPr/>
                    <a:lstStyle/>
                    <a:p>
                      <a:r>
                        <a:rPr lang="en-IN" sz="1600"/>
                        <a:t>Services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Internet_Service, Tech_Support, Online_Security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092373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r>
                        <a:rPr lang="en-IN" sz="1600"/>
                        <a:t>Behavior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Complaints, Satisfaction_Score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362766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r>
                        <a:rPr lang="en-IN" sz="1600"/>
                        <a:t>Billing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Payment_Method, Paperless_Billing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13611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r>
                        <a:rPr lang="en-IN" sz="1600"/>
                        <a:t>Target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Churn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417119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Customer Churn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Customer Behavior</a:t>
            </a:r>
          </a:p>
          <a:p>
            <a:r>
              <a:rPr lang="en-US" dirty="0"/>
              <a:t>What is the overall churn rate? </a:t>
            </a:r>
          </a:p>
          <a:p>
            <a:r>
              <a:rPr lang="en-US" dirty="0"/>
              <a:t>Which customer segments are most likely to churn? </a:t>
            </a:r>
          </a:p>
          <a:p>
            <a:pPr marL="0" indent="0">
              <a:buNone/>
            </a:pPr>
            <a:r>
              <a:rPr lang="en-US" b="1" dirty="0"/>
              <a:t>Financial Impact</a:t>
            </a:r>
          </a:p>
          <a:p>
            <a:r>
              <a:rPr lang="en-US" dirty="0"/>
              <a:t>How much revenue is lost due to churn? </a:t>
            </a:r>
          </a:p>
          <a:p>
            <a:r>
              <a:rPr lang="en-US" dirty="0"/>
              <a:t>Are high-paying customers churning more? </a:t>
            </a:r>
          </a:p>
          <a:p>
            <a:pPr marL="0" indent="0">
              <a:buNone/>
            </a:pPr>
            <a:r>
              <a:rPr lang="en-US" b="1" dirty="0"/>
              <a:t>Service Insights</a:t>
            </a:r>
          </a:p>
          <a:p>
            <a:r>
              <a:rPr lang="en-US" dirty="0"/>
              <a:t>Does tech support reduce churn? </a:t>
            </a:r>
          </a:p>
          <a:p>
            <a:r>
              <a:rPr lang="en-US" dirty="0"/>
              <a:t>Does internet type affect churn? </a:t>
            </a:r>
          </a:p>
          <a:p>
            <a:pPr marL="0" indent="0">
              <a:buNone/>
            </a:pPr>
            <a:r>
              <a:rPr lang="en-US" b="1" dirty="0"/>
              <a:t>Customer Experience</a:t>
            </a:r>
          </a:p>
          <a:p>
            <a:r>
              <a:rPr lang="en-US" dirty="0"/>
              <a:t>Does satisfaction score influence churn? </a:t>
            </a:r>
          </a:p>
          <a:p>
            <a:r>
              <a:rPr lang="en-US" dirty="0"/>
              <a:t>Are complaints linked to churn?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97058" y="1264165"/>
            <a:ext cx="6347714" cy="3880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 Rate (%)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Retention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Revenue Per User (ARPU)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Lifetime Value (CLTV)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Complaint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 Score Distribution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392680"/>
              </p:ext>
            </p:extLst>
          </p:nvPr>
        </p:nvGraphicFramePr>
        <p:xfrm>
          <a:off x="609600" y="2039816"/>
          <a:ext cx="6348412" cy="2975890"/>
        </p:xfrm>
        <a:graphic>
          <a:graphicData uri="http://schemas.openxmlformats.org/drawingml/2006/table">
            <a:tbl>
              <a:tblPr/>
              <a:tblGrid>
                <a:gridCol w="3174206">
                  <a:extLst>
                    <a:ext uri="{9D8B030D-6E8A-4147-A177-3AD203B41FA5}">
                      <a16:colId xmlns:a16="http://schemas.microsoft.com/office/drawing/2014/main" val="969302074"/>
                    </a:ext>
                  </a:extLst>
                </a:gridCol>
                <a:gridCol w="3174206">
                  <a:extLst>
                    <a:ext uri="{9D8B030D-6E8A-4147-A177-3AD203B41FA5}">
                      <a16:colId xmlns:a16="http://schemas.microsoft.com/office/drawing/2014/main" val="260527859"/>
                    </a:ext>
                  </a:extLst>
                </a:gridCol>
              </a:tblGrid>
              <a:tr h="595178">
                <a:tc>
                  <a:txBody>
                    <a:bodyPr/>
                    <a:lstStyle/>
                    <a:p>
                      <a:r>
                        <a:rPr lang="en-IN" sz="1800" b="1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677303"/>
                  </a:ext>
                </a:extLst>
              </a:tr>
              <a:tr h="595178">
                <a:tc>
                  <a:txBody>
                    <a:bodyPr/>
                    <a:lstStyle/>
                    <a:p>
                      <a:r>
                        <a:rPr lang="en-IN" sz="1800"/>
                        <a:t>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Data cleaning, pivot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340352"/>
                  </a:ext>
                </a:extLst>
              </a:tr>
              <a:tr h="595178">
                <a:tc>
                  <a:txBody>
                    <a:bodyPr/>
                    <a:lstStyle/>
                    <a:p>
                      <a:r>
                        <a:rPr lang="en-IN" sz="1800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Querying and aggregation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420414"/>
                  </a:ext>
                </a:extLst>
              </a:tr>
              <a:tr h="595178">
                <a:tc>
                  <a:txBody>
                    <a:bodyPr/>
                    <a:lstStyle/>
                    <a:p>
                      <a:r>
                        <a:rPr lang="en-IN" sz="180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EDA + predictive modeling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908791"/>
                  </a:ext>
                </a:extLst>
              </a:tr>
              <a:tr h="595178">
                <a:tc>
                  <a:txBody>
                    <a:bodyPr/>
                    <a:lstStyle/>
                    <a:p>
                      <a:r>
                        <a:rPr lang="en-IN" sz="1800"/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Dashboard &amp;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6103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70000"/>
            <a:ext cx="6804075" cy="445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1" dirty="0"/>
              <a:t>Data Processing</a:t>
            </a:r>
          </a:p>
          <a:p>
            <a:r>
              <a:rPr lang="en-IN" sz="1200" dirty="0"/>
              <a:t>Import CSV dataset </a:t>
            </a:r>
          </a:p>
          <a:p>
            <a:r>
              <a:rPr lang="en-IN" sz="1200" dirty="0"/>
              <a:t>Clean missing/null values </a:t>
            </a:r>
          </a:p>
          <a:p>
            <a:r>
              <a:rPr lang="en-IN" sz="1200" dirty="0"/>
              <a:t>Transform categorical variables </a:t>
            </a:r>
          </a:p>
          <a:p>
            <a:pPr marL="0" indent="0">
              <a:buNone/>
            </a:pPr>
            <a:r>
              <a:rPr lang="en-IN" sz="1200" b="1" dirty="0"/>
              <a:t>Analysis</a:t>
            </a:r>
          </a:p>
          <a:p>
            <a:r>
              <a:rPr lang="en-IN" sz="1200" dirty="0"/>
              <a:t>Perform descriptive statistics </a:t>
            </a:r>
          </a:p>
          <a:p>
            <a:r>
              <a:rPr lang="en-IN" sz="1200" dirty="0"/>
              <a:t>Segment customers </a:t>
            </a:r>
          </a:p>
          <a:p>
            <a:r>
              <a:rPr lang="en-IN" sz="1200" dirty="0"/>
              <a:t>Identify churn patterns </a:t>
            </a:r>
          </a:p>
          <a:p>
            <a:pPr marL="0" indent="0">
              <a:buNone/>
            </a:pPr>
            <a:r>
              <a:rPr lang="en-IN" sz="1200" b="1" dirty="0"/>
              <a:t>Visualization</a:t>
            </a:r>
          </a:p>
          <a:p>
            <a:r>
              <a:rPr lang="en-IN" sz="1200" dirty="0"/>
              <a:t>Build interactive dashboards: </a:t>
            </a:r>
          </a:p>
          <a:p>
            <a:pPr lvl="1"/>
            <a:r>
              <a:rPr lang="en-IN" sz="1200" dirty="0"/>
              <a:t>Churn overview </a:t>
            </a:r>
          </a:p>
          <a:p>
            <a:pPr lvl="1"/>
            <a:r>
              <a:rPr lang="en-IN" sz="1200" dirty="0"/>
              <a:t>Customer segmentation </a:t>
            </a:r>
          </a:p>
          <a:p>
            <a:pPr lvl="1"/>
            <a:r>
              <a:rPr lang="en-IN" sz="1200" dirty="0"/>
              <a:t>Revenue impact </a:t>
            </a:r>
          </a:p>
          <a:p>
            <a:pPr marL="0" indent="0">
              <a:buNone/>
            </a:pPr>
            <a:r>
              <a:rPr lang="en-IN" sz="1200" b="1" dirty="0" err="1"/>
              <a:t>Modeling</a:t>
            </a:r>
            <a:r>
              <a:rPr lang="en-IN" sz="1200" b="1" dirty="0"/>
              <a:t> (Optional Advanced)</a:t>
            </a:r>
          </a:p>
          <a:p>
            <a:r>
              <a:rPr lang="en-IN" sz="1200" dirty="0"/>
              <a:t>Build churn prediction model </a:t>
            </a:r>
          </a:p>
          <a:p>
            <a:r>
              <a:rPr lang="en-IN" sz="1200" dirty="0"/>
              <a:t>Evaluate model accuracy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Accuracy &gt; 95%</a:t>
            </a:r>
          </a:p>
          <a:p>
            <a:r>
              <a:t>Fast dashboard (&lt;5 sec)</a:t>
            </a:r>
          </a:p>
          <a:p>
            <a:r>
              <a:t>User-friendly UI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Clean dataset</a:t>
            </a:r>
          </a:p>
          <a:p>
            <a:r>
              <a:t>SQL scripts</a:t>
            </a:r>
          </a:p>
          <a:p>
            <a:r>
              <a:t>Python notebook</a:t>
            </a:r>
          </a:p>
          <a:p>
            <a:r>
              <a:t>Power BI dashboard</a:t>
            </a:r>
          </a:p>
          <a:p>
            <a:r>
              <a:t>Final report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197970" cy="3880773"/>
          </a:xfrm>
        </p:spPr>
        <p:txBody>
          <a:bodyPr/>
          <a:lstStyle/>
          <a:p>
            <a:r>
              <a:rPr lang="en-US" dirty="0"/>
              <a:t>Month-to-month contracts have higher churn </a:t>
            </a:r>
          </a:p>
          <a:p>
            <a:r>
              <a:rPr lang="en-US" dirty="0"/>
              <a:t>Customers with low satisfaction scores are more likely to churn </a:t>
            </a:r>
          </a:p>
          <a:p>
            <a:r>
              <a:rPr lang="en-US" dirty="0"/>
              <a:t>High complaints correlate with churn </a:t>
            </a:r>
          </a:p>
          <a:p>
            <a:r>
              <a:rPr lang="en-US" dirty="0"/>
              <a:t>Lack of tech support increases churn risk 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9828" y="2332210"/>
            <a:ext cx="77653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incentives for long-term contracts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customer support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high-risk customers with retention campaigns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complaints through service improvements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Risks:</a:t>
            </a:r>
          </a:p>
          <a:p>
            <a:r>
              <a:rPr lang="en-US" dirty="0"/>
              <a:t>Synthetic data may not reflect real-world complexity </a:t>
            </a:r>
          </a:p>
          <a:p>
            <a:r>
              <a:rPr lang="en-US" dirty="0"/>
              <a:t>Missing behavioral variables </a:t>
            </a:r>
          </a:p>
          <a:p>
            <a:pPr marL="0" indent="0">
              <a:buNone/>
            </a:pPr>
            <a:r>
              <a:rPr lang="en-US" b="1" dirty="0"/>
              <a:t>Assumptions:</a:t>
            </a:r>
          </a:p>
          <a:p>
            <a:r>
              <a:rPr lang="en-US" dirty="0"/>
              <a:t>Data is clean and structured </a:t>
            </a:r>
          </a:p>
          <a:p>
            <a:r>
              <a:rPr lang="en-US" dirty="0"/>
              <a:t>Churn definition is accurate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09598" y="1583814"/>
            <a:ext cx="6347714" cy="3880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identification of churn drivers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business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 for stakeholders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analysis using multiple tools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495</Words>
  <Application>Microsoft Office PowerPoint</Application>
  <PresentationFormat>On-screen Show (4:3)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Customer Churn Analysis</vt:lpstr>
      <vt:lpstr>Executive Summary</vt:lpstr>
      <vt:lpstr>Business Objectives</vt:lpstr>
      <vt:lpstr>Problem Statement</vt:lpstr>
      <vt:lpstr>Scope of Project</vt:lpstr>
      <vt:lpstr>Data Description</vt:lpstr>
      <vt:lpstr>Key Business Questions</vt:lpstr>
      <vt:lpstr>KPIs</vt:lpstr>
      <vt:lpstr>Tools Used</vt:lpstr>
      <vt:lpstr>Functional Requirements</vt:lpstr>
      <vt:lpstr>Non-Functional Requirements</vt:lpstr>
      <vt:lpstr>Expected Deliverables</vt:lpstr>
      <vt:lpstr>Expected Insights</vt:lpstr>
      <vt:lpstr>Recommendations</vt:lpstr>
      <vt:lpstr>Risks &amp; Assumptions</vt:lpstr>
      <vt:lpstr>Success Criteria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/>
  <dc:creator>Erteqa Hossain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2026-04-21T14:54:02Z</dcterms:modified>
  <cp:category/>
</cp:coreProperties>
</file>